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77" y="3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E16635-A14D-4B53-9242-41A20A909C24}" type="datetimeFigureOut">
              <a:rPr lang="en-US" smtClean="0"/>
              <a:t>8/17/2025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C77A0E-0E7D-49B4-81D2-F1EAE8B9FA58}" type="slidenum">
              <a:rPr lang="en-US" smtClean="0"/>
              <a:t>‹#›</a:t>
            </a:fld>
            <a:endParaRPr lang="en-US"/>
          </a:p>
        </p:txBody>
      </p:sp>
    </p:spTree>
    <p:extLst>
      <p:ext uri="{BB962C8B-B14F-4D97-AF65-F5344CB8AC3E}">
        <p14:creationId xmlns:p14="http://schemas.microsoft.com/office/powerpoint/2010/main" val="4209266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leadership team. This presentation summarizes the Scrum-Agile approach used in the SNHU Travel project, contrasts it with the traditional waterfall model, and highlights recommendations for </a:t>
            </a:r>
            <a:r>
              <a:rPr lang="en-US" dirty="0" err="1"/>
              <a:t>ChadaTech’s</a:t>
            </a:r>
            <a:r>
              <a:rPr lang="en-US" dirty="0"/>
              <a:t> transition to Agile.</a:t>
            </a:r>
          </a:p>
        </p:txBody>
      </p:sp>
      <p:sp>
        <p:nvSpPr>
          <p:cNvPr id="4" name="Slide Number Placeholder 3"/>
          <p:cNvSpPr>
            <a:spLocks noGrp="1"/>
          </p:cNvSpPr>
          <p:nvPr>
            <p:ph type="sldNum" sz="quarter" idx="5"/>
          </p:nvPr>
        </p:nvSpPr>
        <p:spPr/>
        <p:txBody>
          <a:bodyPr/>
          <a:lstStyle/>
          <a:p>
            <a:fld id="{74C77A0E-0E7D-49B4-81D2-F1EAE8B9FA58}" type="slidenum">
              <a:rPr lang="en-US" smtClean="0"/>
              <a:t>1</a:t>
            </a:fld>
            <a:endParaRPr lang="en-US"/>
          </a:p>
        </p:txBody>
      </p:sp>
    </p:spTree>
    <p:extLst>
      <p:ext uri="{BB962C8B-B14F-4D97-AF65-F5344CB8AC3E}">
        <p14:creationId xmlns:p14="http://schemas.microsoft.com/office/powerpoint/2010/main" val="2878144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in Scrum is essential. The Product Owner ensures alignment with business goals, the Scrum Master keeps the process efficient, and the Development Team builds value iteratively. Collaboration across these roles is what makes Agile powerful (Schwaber &amp; Sutherland, 2020).</a:t>
            </a:r>
          </a:p>
        </p:txBody>
      </p:sp>
      <p:sp>
        <p:nvSpPr>
          <p:cNvPr id="4" name="Slide Number Placeholder 3"/>
          <p:cNvSpPr>
            <a:spLocks noGrp="1"/>
          </p:cNvSpPr>
          <p:nvPr>
            <p:ph type="sldNum" sz="quarter" idx="5"/>
          </p:nvPr>
        </p:nvSpPr>
        <p:spPr/>
        <p:txBody>
          <a:bodyPr/>
          <a:lstStyle/>
          <a:p>
            <a:fld id="{74C77A0E-0E7D-49B4-81D2-F1EAE8B9FA58}" type="slidenum">
              <a:rPr lang="en-US" smtClean="0"/>
              <a:t>2</a:t>
            </a:fld>
            <a:endParaRPr lang="en-US"/>
          </a:p>
        </p:txBody>
      </p:sp>
    </p:spTree>
    <p:extLst>
      <p:ext uri="{BB962C8B-B14F-4D97-AF65-F5344CB8AC3E}">
        <p14:creationId xmlns:p14="http://schemas.microsoft.com/office/powerpoint/2010/main" val="279716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Waterfall, Agile repeats the SDLC phases in cycles. Each sprint produces a working increment, allowing testing and feedback early in development. This helped the SNHU Travel project deliver features like search and package comparison before the final release (Cohn, 2019).</a:t>
            </a:r>
          </a:p>
        </p:txBody>
      </p:sp>
      <p:sp>
        <p:nvSpPr>
          <p:cNvPr id="4" name="Slide Number Placeholder 3"/>
          <p:cNvSpPr>
            <a:spLocks noGrp="1"/>
          </p:cNvSpPr>
          <p:nvPr>
            <p:ph type="sldNum" sz="quarter" idx="5"/>
          </p:nvPr>
        </p:nvSpPr>
        <p:spPr/>
        <p:txBody>
          <a:bodyPr/>
          <a:lstStyle/>
          <a:p>
            <a:fld id="{74C77A0E-0E7D-49B4-81D2-F1EAE8B9FA58}" type="slidenum">
              <a:rPr lang="en-US" smtClean="0"/>
              <a:t>3</a:t>
            </a:fld>
            <a:endParaRPr lang="en-US"/>
          </a:p>
        </p:txBody>
      </p:sp>
    </p:spTree>
    <p:extLst>
      <p:ext uri="{BB962C8B-B14F-4D97-AF65-F5344CB8AC3E}">
        <p14:creationId xmlns:p14="http://schemas.microsoft.com/office/powerpoint/2010/main" val="3085963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Waterfall, requirements are locked in early, and changes late in the project cause delays. Agile, on the other hand, embraces change, which made it ideal for SNHU Travel where customer feedback shifted priorities mid-project.</a:t>
            </a:r>
          </a:p>
        </p:txBody>
      </p:sp>
      <p:sp>
        <p:nvSpPr>
          <p:cNvPr id="4" name="Slide Number Placeholder 3"/>
          <p:cNvSpPr>
            <a:spLocks noGrp="1"/>
          </p:cNvSpPr>
          <p:nvPr>
            <p:ph type="sldNum" sz="quarter" idx="5"/>
          </p:nvPr>
        </p:nvSpPr>
        <p:spPr/>
        <p:txBody>
          <a:bodyPr/>
          <a:lstStyle/>
          <a:p>
            <a:fld id="{74C77A0E-0E7D-49B4-81D2-F1EAE8B9FA58}" type="slidenum">
              <a:rPr lang="en-US" smtClean="0"/>
              <a:t>4</a:t>
            </a:fld>
            <a:endParaRPr lang="en-US"/>
          </a:p>
        </p:txBody>
      </p:sp>
    </p:spTree>
    <p:extLst>
      <p:ext uri="{BB962C8B-B14F-4D97-AF65-F5344CB8AC3E}">
        <p14:creationId xmlns:p14="http://schemas.microsoft.com/office/powerpoint/2010/main" val="3364634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depends on project type. For dynamic, client-facing projects like SNHU Travel, Agile was the best fit. But for projects with rigid compliance or minimal changes, Waterfall might still be appropriate.</a:t>
            </a:r>
          </a:p>
        </p:txBody>
      </p:sp>
      <p:sp>
        <p:nvSpPr>
          <p:cNvPr id="4" name="Slide Number Placeholder 3"/>
          <p:cNvSpPr>
            <a:spLocks noGrp="1"/>
          </p:cNvSpPr>
          <p:nvPr>
            <p:ph type="sldNum" sz="quarter" idx="5"/>
          </p:nvPr>
        </p:nvSpPr>
        <p:spPr/>
        <p:txBody>
          <a:bodyPr/>
          <a:lstStyle/>
          <a:p>
            <a:fld id="{74C77A0E-0E7D-49B4-81D2-F1EAE8B9FA58}" type="slidenum">
              <a:rPr lang="en-US" smtClean="0"/>
              <a:t>5</a:t>
            </a:fld>
            <a:endParaRPr lang="en-US"/>
          </a:p>
        </p:txBody>
      </p:sp>
    </p:spTree>
    <p:extLst>
      <p:ext uri="{BB962C8B-B14F-4D97-AF65-F5344CB8AC3E}">
        <p14:creationId xmlns:p14="http://schemas.microsoft.com/office/powerpoint/2010/main" val="1462189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pilot project showed Agile improved adaptability, team collaboration, and client satisfaction. I recommend </a:t>
            </a:r>
            <a:r>
              <a:rPr lang="en-US" dirty="0" err="1"/>
              <a:t>ChadaTech</a:t>
            </a:r>
            <a:r>
              <a:rPr lang="en-US" dirty="0"/>
              <a:t> scale Agile across development teams while keeping Waterfall as an option for highly regulated projects.</a:t>
            </a:r>
          </a:p>
        </p:txBody>
      </p:sp>
      <p:sp>
        <p:nvSpPr>
          <p:cNvPr id="4" name="Slide Number Placeholder 3"/>
          <p:cNvSpPr>
            <a:spLocks noGrp="1"/>
          </p:cNvSpPr>
          <p:nvPr>
            <p:ph type="sldNum" sz="quarter" idx="5"/>
          </p:nvPr>
        </p:nvSpPr>
        <p:spPr/>
        <p:txBody>
          <a:bodyPr/>
          <a:lstStyle/>
          <a:p>
            <a:fld id="{74C77A0E-0E7D-49B4-81D2-F1EAE8B9FA58}" type="slidenum">
              <a:rPr lang="en-US" smtClean="0"/>
              <a:t>6</a:t>
            </a:fld>
            <a:endParaRPr lang="en-US"/>
          </a:p>
        </p:txBody>
      </p:sp>
    </p:spTree>
    <p:extLst>
      <p:ext uri="{BB962C8B-B14F-4D97-AF65-F5344CB8AC3E}">
        <p14:creationId xmlns:p14="http://schemas.microsoft.com/office/powerpoint/2010/main" val="3276403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Agile vs. Waterfall: Lessons from the SNHU Travel Project</a:t>
            </a:r>
          </a:p>
        </p:txBody>
      </p:sp>
      <p:sp>
        <p:nvSpPr>
          <p:cNvPr id="3" name="Subtitle 2"/>
          <p:cNvSpPr>
            <a:spLocks noGrp="1"/>
          </p:cNvSpPr>
          <p:nvPr>
            <p:ph type="subTitle" idx="1"/>
          </p:nvPr>
        </p:nvSpPr>
        <p:spPr/>
        <p:txBody>
          <a:bodyPr>
            <a:normAutofit/>
          </a:bodyPr>
          <a:lstStyle/>
          <a:p>
            <a:r>
              <a:rPr lang="en-US" dirty="0"/>
              <a:t>Paige Marinkov</a:t>
            </a:r>
            <a:endParaRPr dirty="0"/>
          </a:p>
          <a:p>
            <a:r>
              <a:rPr lang="en-US" dirty="0"/>
              <a:t>CS 250 </a:t>
            </a:r>
          </a:p>
          <a:p>
            <a:r>
              <a:rPr lang="en-US" dirty="0"/>
              <a:t>August 17, 2025</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Scrum-Agile Roles</a:t>
            </a:r>
          </a:p>
        </p:txBody>
      </p:sp>
      <p:sp>
        <p:nvSpPr>
          <p:cNvPr id="3" name="Content Placeholder 2"/>
          <p:cNvSpPr>
            <a:spLocks noGrp="1"/>
          </p:cNvSpPr>
          <p:nvPr>
            <p:ph idx="1"/>
          </p:nvPr>
        </p:nvSpPr>
        <p:spPr/>
        <p:txBody>
          <a:bodyPr/>
          <a:lstStyle/>
          <a:p>
            <a:r>
              <a:t>- Product Owner: Defines priorities, manages the product backlog</a:t>
            </a:r>
          </a:p>
          <a:p>
            <a:r>
              <a:t>- Scrum Master: Facilitates Scrum events, removes obstacles</a:t>
            </a:r>
          </a:p>
          <a:p>
            <a:r>
              <a:t>- Development Team: Delivers working increments each sprint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Agile and the SDLC</a:t>
            </a:r>
          </a:p>
        </p:txBody>
      </p:sp>
      <p:sp>
        <p:nvSpPr>
          <p:cNvPr id="3" name="Content Placeholder 2"/>
          <p:cNvSpPr>
            <a:spLocks noGrp="1"/>
          </p:cNvSpPr>
          <p:nvPr>
            <p:ph idx="1"/>
          </p:nvPr>
        </p:nvSpPr>
        <p:spPr/>
        <p:txBody>
          <a:bodyPr/>
          <a:lstStyle/>
          <a:p>
            <a:r>
              <a:t>- Iterative phases: Planning, Design, Development, Testing, Deployment</a:t>
            </a:r>
          </a:p>
          <a:p>
            <a:r>
              <a:t>- Short sprints deliver working software incrementally</a:t>
            </a:r>
          </a:p>
          <a:p>
            <a:r>
              <a:t>- Continuous feedback ensures adjustments based on input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Waterfall vs. Agile</a:t>
            </a:r>
          </a:p>
        </p:txBody>
      </p:sp>
      <p:sp>
        <p:nvSpPr>
          <p:cNvPr id="3" name="Content Placeholder 2"/>
          <p:cNvSpPr>
            <a:spLocks noGrp="1"/>
          </p:cNvSpPr>
          <p:nvPr>
            <p:ph idx="1"/>
          </p:nvPr>
        </p:nvSpPr>
        <p:spPr/>
        <p:txBody>
          <a:bodyPr>
            <a:normAutofit fontScale="92500" lnSpcReduction="20000"/>
          </a:bodyPr>
          <a:lstStyle/>
          <a:p>
            <a:r>
              <a:t>Waterfall:</a:t>
            </a:r>
          </a:p>
          <a:p>
            <a:r>
              <a:t>- Linear, phase-by-phase</a:t>
            </a:r>
          </a:p>
          <a:p>
            <a:r>
              <a:t>- Requirements fixed at the start</a:t>
            </a:r>
          </a:p>
          <a:p>
            <a:r>
              <a:t>- Testing occurs only at the end</a:t>
            </a:r>
          </a:p>
          <a:p>
            <a:endParaRPr/>
          </a:p>
          <a:p>
            <a:r>
              <a:t>Agile (Scrum):</a:t>
            </a:r>
          </a:p>
          <a:p>
            <a:r>
              <a:t>- Iterative and adaptive</a:t>
            </a:r>
          </a:p>
          <a:p>
            <a:r>
              <a:t>- Requirements can evolve</a:t>
            </a:r>
          </a:p>
          <a:p>
            <a:r>
              <a:t>- Testing and feedback continuous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Choosing the Right Approach</a:t>
            </a:r>
          </a:p>
        </p:txBody>
      </p:sp>
      <p:sp>
        <p:nvSpPr>
          <p:cNvPr id="3" name="Content Placeholder 2"/>
          <p:cNvSpPr>
            <a:spLocks noGrp="1"/>
          </p:cNvSpPr>
          <p:nvPr>
            <p:ph idx="1"/>
          </p:nvPr>
        </p:nvSpPr>
        <p:spPr/>
        <p:txBody>
          <a:bodyPr/>
          <a:lstStyle/>
          <a:p>
            <a:r>
              <a:t>- Use Waterfall when:</a:t>
            </a:r>
          </a:p>
          <a:p>
            <a:r>
              <a:t>  • Requirements are stable and well-defined</a:t>
            </a:r>
          </a:p>
          <a:p>
            <a:r>
              <a:t>  • Documentation-heavy industries</a:t>
            </a:r>
          </a:p>
          <a:p>
            <a:endParaRPr/>
          </a:p>
          <a:p>
            <a:r>
              <a:t>- Use Agile when:</a:t>
            </a:r>
          </a:p>
          <a:p>
            <a:r>
              <a:t>  • Requirements may change</a:t>
            </a:r>
          </a:p>
          <a:p>
            <a:r>
              <a:t>  • Customer collaboration is critical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Recommendations for ChadaTech</a:t>
            </a:r>
          </a:p>
        </p:txBody>
      </p:sp>
      <p:sp>
        <p:nvSpPr>
          <p:cNvPr id="3" name="Content Placeholder 2"/>
          <p:cNvSpPr>
            <a:spLocks noGrp="1"/>
          </p:cNvSpPr>
          <p:nvPr>
            <p:ph idx="1"/>
          </p:nvPr>
        </p:nvSpPr>
        <p:spPr/>
        <p:txBody>
          <a:bodyPr/>
          <a:lstStyle/>
          <a:p>
            <a:r>
              <a:t>- Adopt Scrum-Agile organization-wide for client-facing projects</a:t>
            </a:r>
          </a:p>
          <a:p>
            <a:r>
              <a:t>- Encourage collaboration and continuous learning</a:t>
            </a:r>
          </a:p>
          <a:p>
            <a:r>
              <a:t>- Retain Waterfall for highly regulated projects</a:t>
            </a:r>
          </a:p>
          <a:p>
            <a:r>
              <a:t>- Train staff in Scrum events and Agile tools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References</a:t>
            </a:r>
          </a:p>
        </p:txBody>
      </p:sp>
      <p:sp>
        <p:nvSpPr>
          <p:cNvPr id="3" name="Content Placeholder 2"/>
          <p:cNvSpPr>
            <a:spLocks noGrp="1"/>
          </p:cNvSpPr>
          <p:nvPr>
            <p:ph idx="1"/>
          </p:nvPr>
        </p:nvSpPr>
        <p:spPr/>
        <p:txBody>
          <a:bodyPr>
            <a:noAutofit/>
          </a:bodyPr>
          <a:lstStyle/>
          <a:p>
            <a:r>
              <a:rPr sz="2400" dirty="0"/>
              <a:t>Cohn, M. (2019). Succeeding with Agile: Software development using Scrum. Addison-Wesley.</a:t>
            </a:r>
          </a:p>
          <a:p>
            <a:endParaRPr sz="2400" dirty="0"/>
          </a:p>
          <a:p>
            <a:r>
              <a:rPr sz="2400" dirty="0"/>
              <a:t>Schwaber, K., &amp; Sutherland, J. (2020). The Scrum guide: The definitive guide to Scrum. Scrum.org.</a:t>
            </a:r>
          </a:p>
          <a:p>
            <a:endParaRPr sz="2400" dirty="0"/>
          </a:p>
          <a:p>
            <a:r>
              <a:rPr sz="2400" dirty="0"/>
              <a:t>VersionOne. (2021). 15th annual State of Agile report. Digital.ai.</a:t>
            </a:r>
          </a:p>
          <a:p>
            <a:endParaRPr sz="2400" dirty="0"/>
          </a:p>
          <a:p>
            <a:r>
              <a:rPr sz="2400" dirty="0"/>
              <a:t>Project Management Institute. (2021). Agile practice guide. Project Management Institute.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517</Words>
  <Application>Microsoft Office PowerPoint</Application>
  <PresentationFormat>On-screen Show (4:3)</PresentationFormat>
  <Paragraphs>55</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Calibri</vt:lpstr>
      <vt:lpstr>Office Theme</vt:lpstr>
      <vt:lpstr>Agile vs. Waterfall: Lessons from the SNHU Travel Project</vt:lpstr>
      <vt:lpstr>Scrum-Agile Roles</vt:lpstr>
      <vt:lpstr>Agile and the SDLC</vt:lpstr>
      <vt:lpstr>Waterfall vs. Agile</vt:lpstr>
      <vt:lpstr>Choosing the Right Approach</vt:lpstr>
      <vt:lpstr>Recommendations for ChadaTech</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Paige marinkov</dc:creator>
  <cp:keywords/>
  <dc:description>generated using python-pptx</dc:description>
  <cp:lastModifiedBy>Marinkov, Paige</cp:lastModifiedBy>
  <cp:revision>2</cp:revision>
  <dcterms:created xsi:type="dcterms:W3CDTF">2013-01-27T09:14:16Z</dcterms:created>
  <dcterms:modified xsi:type="dcterms:W3CDTF">2025-08-17T17:41:19Z</dcterms:modified>
  <cp:category/>
</cp:coreProperties>
</file>